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7교시 조사연구방법론 특강의 후속. 방법론을 '논문이라는 형식'에 담는 법이 오늘의 주제임을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질의응답 및 추가 문의사항 접수. 수강생 각자의 연구 주제를 목적 문장 한 줄로 써 보게 하는 실습으로 마무리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4937760" cy="4937760"/>
          </a:xfrm>
          <a:prstGeom prst="ellipse">
            <a:avLst/>
          </a:prstGeom>
          <a:solidFill>
            <a:srgbClr val="2B3A7A"/>
          </a:solidFill>
          <a:ln w="127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3200400"/>
            <a:ext cx="3291840" cy="3291840"/>
          </a:xfrm>
          <a:prstGeom prst="ellipse">
            <a:avLst/>
          </a:prstGeom>
          <a:solidFill>
            <a:srgbClr val="16205A"/>
          </a:solidFill>
          <a:ln w="12700">
            <a:solidFill>
              <a:srgbClr val="162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WRITE A MASTER'S THESIS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517904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학위논문 작성법 특강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조사연구(Survey Research)를 중심으로 — 석사급 학위논문 작성의 실제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00200" y="33832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지휘참모 2과정 2기 해군소령 61명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9502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00200" y="395020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16:45 ~ 17:30 (45분, 8교시)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51713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600200" y="4517136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→ 서론 → 이론적 배경 → 연구방법 → 결과·논의 → 실무 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0840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600200" y="508406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(강사 이름)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 · 45분 운영 계획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280660" cy="896112"/>
          </a:xfrm>
          <a:prstGeom prst="roundRect">
            <a:avLst>
              <a:gd name="adj" fmla="val 8163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792224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81328" y="1700784"/>
            <a:ext cx="3451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학위논문의 전체 구조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81328" y="2029968"/>
            <a:ext cx="3451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체제와 실무 보고서와의 차이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4628" y="1837944"/>
            <a:ext cx="676656" cy="365760"/>
          </a:xfrm>
          <a:prstGeom prst="roundRect">
            <a:avLst>
              <a:gd name="adj" fmla="val 17500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4628" y="1837944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615184"/>
            <a:ext cx="5280660" cy="896112"/>
          </a:xfrm>
          <a:prstGeom prst="roundRect">
            <a:avLst>
              <a:gd name="adj" fmla="val 8163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28346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1328" y="2743200"/>
            <a:ext cx="3451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 작성법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81328" y="3072384"/>
            <a:ext cx="3451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필요성·목적·연구문제·용어 정의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4628" y="2880360"/>
            <a:ext cx="676656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4628" y="288036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5280660" cy="896112"/>
          </a:xfrm>
          <a:prstGeom prst="roundRect">
            <a:avLst>
              <a:gd name="adj" fmla="val 8163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38770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81328" y="3785616"/>
            <a:ext cx="3451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이론적 배경 작성법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81328" y="4114800"/>
            <a:ext cx="3451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비판적 종합과 연구모형 도출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4628" y="3922776"/>
            <a:ext cx="676656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4628" y="392277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00016"/>
            <a:ext cx="5280660" cy="896112"/>
          </a:xfrm>
          <a:prstGeom prst="roundRect">
            <a:avLst>
              <a:gd name="adj" fmla="val 8163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49194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81328" y="4828032"/>
            <a:ext cx="3451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연구방법 작성법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81328" y="5157216"/>
            <a:ext cx="3451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가능성을 확보하는 기술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4628" y="4965192"/>
            <a:ext cx="676656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4628" y="4965192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40780" y="1572768"/>
            <a:ext cx="5280660" cy="896112"/>
          </a:xfrm>
          <a:prstGeom prst="roundRect">
            <a:avLst>
              <a:gd name="adj" fmla="val 8163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0236" y="179222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0236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82028" y="1700784"/>
            <a:ext cx="3451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및 논의·결론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082028" y="2029968"/>
            <a:ext cx="3451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말하게 하는 글쓰기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625328" y="1837944"/>
            <a:ext cx="676656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25328" y="1837944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40780" y="2615184"/>
            <a:ext cx="5280660" cy="896112"/>
          </a:xfrm>
          <a:prstGeom prst="roundRect">
            <a:avLst>
              <a:gd name="adj" fmla="val 8163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60236" y="28346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60236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82028" y="2743200"/>
            <a:ext cx="3451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실무 팁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082028" y="3072384"/>
            <a:ext cx="3451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APA·흔한 실수·연구윤리와 AI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0625328" y="2880360"/>
            <a:ext cx="676656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25328" y="288036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40780" y="3657600"/>
            <a:ext cx="5280660" cy="896112"/>
          </a:xfrm>
          <a:prstGeom prst="roundRect">
            <a:avLst>
              <a:gd name="adj" fmla="val 8163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60236" y="38770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60236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082028" y="3785616"/>
            <a:ext cx="3451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및 마무리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7082028" y="4114800"/>
            <a:ext cx="3451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질의응답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0625328" y="3922776"/>
            <a:ext cx="676656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25328" y="392277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240780" y="4709160"/>
            <a:ext cx="5280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7교시에서 배운 조사연구 방법론을, 오늘은 ‘논문이라는 형식’에 담는 방법을 다룹니다.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THESIS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학위논문의 전체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석사급 조사연구(Survey Research) 학위논문은 일반적으로 6장 체제를 따릅니다.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30936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 (Chapter)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분량 비중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제1장  서론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연구의 필요성 및 목적, 문제 제기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제2장  이론적 배경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선행연구 검토, 연구모형 및 가설 도출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제3장  연구방법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연구설계, 표본, 측정도구(설문), 분석방법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제4장  연구결과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수집된 데이터 분석 결과 (가설 검증)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제5장  논의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해석, 선행연구와의 비교, 시사점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제6장  결론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연구 요약, 한계점 및 제언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292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51389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2장과 4장이 전체의 절반 — 이론적 배경과 결과가 논문의 무게중심입니다.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60120" y="544982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서론과 결론은 짧지만 심사위원이 가장 먼저·가장 마지막으로 읽는 부분입니다. 분량은 적어도 공은 가장 많이 들이십시오.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THESIS vs. FIELD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학위논문 vs. 실무 보고서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1907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실무 정책 보고서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장병 인성교육 · 정신전력교육 보고서 목차 예시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35024" y="2468880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연구목적 및 필요성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2889504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35024" y="2889504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이론적 배경 (인성교육, 평가 프로그램)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31012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35024" y="3310128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연구방법 (연구설계, 설문, 분석)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373075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35024" y="3730752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연구결과 (운영성과 분석, 효과성 평가)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4151376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35024" y="4151376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및 제언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1536192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71907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학위논문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37960" y="20848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데이터라도 학문적 엄밀성이 요구되는 지점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2468880"/>
            <a:ext cx="4709160" cy="603504"/>
          </a:xfrm>
          <a:prstGeom prst="roundRect">
            <a:avLst>
              <a:gd name="adj" fmla="val 1060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2514600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이론적 배경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02552" y="2752344"/>
            <a:ext cx="43799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이론적 틀 위에 연구모형을 세우고 가설을 도출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37960" y="3182112"/>
            <a:ext cx="4709160" cy="603504"/>
          </a:xfrm>
          <a:prstGeom prst="roundRect">
            <a:avLst>
              <a:gd name="adj" fmla="val 1060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552" y="3227832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논의(Discussion)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02552" y="3465576"/>
            <a:ext cx="43799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왜 그렇게 나왔는지 선행연구와 비교해 해석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37960" y="3895344"/>
            <a:ext cx="4709160" cy="603504"/>
          </a:xfrm>
          <a:prstGeom prst="roundRect">
            <a:avLst>
              <a:gd name="adj" fmla="val 1060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3941064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학문적 기여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02552" y="4178808"/>
            <a:ext cx="43799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제언에 더해, 학문 영역에 무엇을 더했는지 진술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95604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5102352"/>
            <a:ext cx="274320" cy="274320"/>
          </a:xfrm>
          <a:prstGeom prst="ellipse">
            <a:avLst/>
          </a:prstGeom>
          <a:solidFill>
            <a:srgbClr val="9E2A2B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5102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07008" y="5010912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보고서는 ‘결과와 정책 제언’에 집중하지만, 학위논문은 이론적 배경(Theoretical Framework)과 논의(Discussion)가 학문적으로 훨씬 깊이 있고 엄밀해야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서론(Introduction) 작성법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서론은 독자(심사위원)를 설득하는 첫 단계입니다.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15184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연구의 필요성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980944"/>
            <a:ext cx="289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“왜 이 연구가 필요한가?”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364992"/>
            <a:ext cx="289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사회적·실무적 필요성 — 군내 사고 예방, 정신전력 강화 등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학문적 필요성 — 기존 연구의 한계점 극복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8640" y="178308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2960" y="2011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32960" y="2615184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 목적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32960" y="2980944"/>
            <a:ext cx="289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“무엇을 밝힐 것인가?”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32960" y="3364992"/>
            <a:ext cx="289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명확하고 구체적인 한 문장으로 기술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문제(Research Questions)와 가설(Hypotheses)로 구체화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77200" y="178308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1520" y="2011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51520" y="2615184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범위와 정의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51520" y="2980944"/>
            <a:ext cx="289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“어디까지가 이 연구인가?”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51520" y="3364992"/>
            <a:ext cx="289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연구의 범위와 제한점을 솔직하게 명시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개념의 조작적 정의(Operational Definition) 제시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19379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5340096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340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07008" y="5248656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서론의 마지막 문단은 “본 연구는 …을 밝히고자 한다”로 끝나야 합니다. 여기서 제시한 목적이 결론에서 그대로 답변되어야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군사 분야 서론 작성 예시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주제라도 목적 기술의 구체성이 논문의 수준을 가릅니다.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93392"/>
            <a:ext cx="1920240" cy="402336"/>
          </a:xfrm>
          <a:prstGeom prst="roundRect">
            <a:avLst>
              <a:gd name="adj" fmla="val 18182"/>
            </a:avLst>
          </a:prstGeom>
          <a:solidFill>
            <a:srgbClr val="9E2A2B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933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기술 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63240" y="1956816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“본 연구는 해군 장병들의 사기 진작 방안을 알아보고자 한다.”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63240" y="2468880"/>
            <a:ext cx="8183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누구에게, 어떤 변수로 볼지가 전혀 드러나지 않습니다. 이 문장으로는 분석 계획을 세울 수 없습니다.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10128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529584"/>
            <a:ext cx="1920240" cy="402336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295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기술 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63240" y="3474720"/>
            <a:ext cx="8183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“본 연구의 목적은 해군 함정 근무 장병의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 스트레스(Job Stress)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몰입(Organizational Commitment)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미치는 영향을 파악하고, 이 과정에서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지휘관의 변혁적 리더십(Transformational Leadership)이 갖는 조절효과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검증하는 데 있다.”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63240" y="4572000"/>
            <a:ext cx="1895094" cy="658368"/>
          </a:xfrm>
          <a:prstGeom prst="roundRect">
            <a:avLst>
              <a:gd name="adj" fmla="val 9722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4572000"/>
            <a:ext cx="18950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해군 함정 근무 장병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59502" y="4572000"/>
            <a:ext cx="1895094" cy="658368"/>
          </a:xfrm>
          <a:prstGeom prst="roundRect">
            <a:avLst>
              <a:gd name="adj" fmla="val 9722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9502" y="4572000"/>
            <a:ext cx="18950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독립변수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 스트레스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55764" y="4572000"/>
            <a:ext cx="1895094" cy="658368"/>
          </a:xfrm>
          <a:prstGeom prst="roundRect">
            <a:avLst>
              <a:gd name="adj" fmla="val 9722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55764" y="4572000"/>
            <a:ext cx="18950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종속변수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몰입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52026" y="4572000"/>
            <a:ext cx="1895094" cy="658368"/>
          </a:xfrm>
          <a:prstGeom prst="roundRect">
            <a:avLst>
              <a:gd name="adj" fmla="val 9722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2026" y="4572000"/>
            <a:ext cx="18950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조절변수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변혁적 리더십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5596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문장 하나에 대상·변수·검증할 관계가 모두 들어 있으면, 3장 연구방법은 저절로 써집니다.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THEORETICAL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이론적 배경 작성법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단순한 ‘개념 나열’이 아닌, 비판적 종합(Critical Synthesis)이 필요합니다.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61518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44752" y="259689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선행연구 검토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96112" y="305409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연구의 동향과 한계점을 파악합니다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41648" y="2962656"/>
            <a:ext cx="274320" cy="237744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395728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0872" y="261518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39512" y="259689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이론적 틀 설정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90872" y="305409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연구의 뼈대가 되는 이론을 선택합니다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36408" y="2962656"/>
            <a:ext cx="274320" cy="237744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395728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85632" y="261518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34272" y="259689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연구모형 도출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85632" y="305409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간의 관계를 시각화하고 가설로 진술합니다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950208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096512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보고서 예시 — 2022 인성교육 · 2025 정신전력교육 평가 연구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32688" y="4462272"/>
            <a:ext cx="501091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52144" y="4535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CIPP 평가모형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(Stufflebeam, 1971)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52144" y="482803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상황(Context) · 투입(Input) · 과정(Process) · 산출(Product)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462272"/>
            <a:ext cx="5010912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37376" y="4535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Kirkpatrick 평가모형  </a:t>
            </a:r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(4단계 모형)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37376" y="482803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반응 → 2단계 학습 → 3단계 행동 → 4단계 결과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58978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이론적 틀을 기반으로 본인의 연구모형을 설계해야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LITERATURE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선행연구 정리표 활용 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논문을 읽을 때마다 아래와 같은 표로 정리해 두면, 2장 집필이 ‘요약’이 아니라 ‘조립’이 됩니다.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508760"/>
                <a:gridCol w="1325880"/>
                <a:gridCol w="1280160"/>
                <a:gridCol w="2743200"/>
                <a:gridCol w="242316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저자(연도)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연구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독립변수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종속변수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 연구와의 차별성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홍길동(2021)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육군 초급간부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리더십 유형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직무만족도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변혁적 리더십이 유의한 정(+)의 영향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육군 중심 연구 — 본 연구는 해군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김해군(2023)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해군 부사관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조직문화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이직의도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보수적 문화가 이직의도를 상승시킴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부사관 대상 — 본 연구는 ‘장교’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84048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40050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정리표가 그대로 논문이 되는 지점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60120" y="4389120"/>
            <a:ext cx="3230880" cy="1188720"/>
          </a:xfrm>
          <a:prstGeom prst="roundRect">
            <a:avLst>
              <a:gd name="adj" fmla="val 6154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61288" y="4517136"/>
            <a:ext cx="2828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선정 근거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61288" y="4828032"/>
            <a:ext cx="2828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선행연구에서 반복 검증된 변수를 내 모형에 채택합니다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65320" y="4389120"/>
            <a:ext cx="3230880" cy="1188720"/>
          </a:xfrm>
          <a:prstGeom prst="roundRect">
            <a:avLst>
              <a:gd name="adj" fmla="val 6154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6488" y="4517136"/>
            <a:ext cx="2828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측정도구 확보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66488" y="4828032"/>
            <a:ext cx="2828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척도를 누가 썼는지 한눈에 보여 출처 명시가 쉬워집니다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70520" y="4389120"/>
            <a:ext cx="3230880" cy="1188720"/>
          </a:xfrm>
          <a:prstGeom prst="roundRect">
            <a:avLst>
              <a:gd name="adj" fmla="val 6154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71688" y="4517136"/>
            <a:ext cx="2828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차별성 진술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71688" y="4828032"/>
            <a:ext cx="2828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열이 곧 서론의 ‘연구의 필요성’ 문단이 됩니다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연구방법(Methodology) 작성법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조사연구의 핵심은 재현 가능성(Reproducibility) — 제3자가 이 장만 읽고 동일한 조사를 재현할 수 있어야 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2000707" cy="2788920"/>
          </a:xfrm>
          <a:prstGeom prst="roundRect">
            <a:avLst>
              <a:gd name="adj" fmla="val 3656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0122" y="261518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0122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3145536"/>
            <a:ext cx="1744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연구설계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68096" y="3474720"/>
            <a:ext cx="17446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Research Design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785616"/>
            <a:ext cx="16349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양적 연구, 횡단적 조사 등 설계 유형과 그 선택 이유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60243" y="2395728"/>
            <a:ext cx="2000707" cy="2788920"/>
          </a:xfrm>
          <a:prstGeom prst="roundRect">
            <a:avLst>
              <a:gd name="adj" fmla="val 3656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0285" y="261518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0285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88259" y="3145536"/>
            <a:ext cx="1744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모집단과 표본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88259" y="3474720"/>
            <a:ext cx="17446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Population &amp; Sample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43123" y="3785616"/>
            <a:ext cx="16349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표집 방법(Sampling)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크기(N)와 그 산출 근거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80406" y="2395728"/>
            <a:ext cx="2000707" cy="2788920"/>
          </a:xfrm>
          <a:prstGeom prst="roundRect">
            <a:avLst>
              <a:gd name="adj" fmla="val 3656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70448" y="2615184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044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08422" y="3145536"/>
            <a:ext cx="1744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측정도구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08422" y="3474720"/>
            <a:ext cx="17446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Instruments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63286" y="3785616"/>
            <a:ext cx="16349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설문지 구성, 문항 수, 척도(예: Likert 5점)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명시 필수 — 기존 검증 척도 활용 권장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00570" y="2395728"/>
            <a:ext cx="2000707" cy="2788920"/>
          </a:xfrm>
          <a:prstGeom prst="roundRect">
            <a:avLst>
              <a:gd name="adj" fmla="val 3656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0611" y="261518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0611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28586" y="3145536"/>
            <a:ext cx="1744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타당도·신뢰도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28586" y="3474720"/>
            <a:ext cx="17446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Validity &amp; Reliability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83450" y="3785616"/>
            <a:ext cx="16349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요인분석 결과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Cronbach’s α 값 제시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520733" y="2395728"/>
            <a:ext cx="2000707" cy="2788920"/>
          </a:xfrm>
          <a:prstGeom prst="roundRect">
            <a:avLst>
              <a:gd name="adj" fmla="val 3656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10774" y="261518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10774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48749" y="3145536"/>
            <a:ext cx="1744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자료분석 방법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648749" y="3474720"/>
            <a:ext cx="17446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03613" y="3785616"/>
            <a:ext cx="16349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SPSS, AMOS 등 사용 도구와 분석 기법 기술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37667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5522976"/>
            <a:ext cx="274320" cy="274320"/>
          </a:xfrm>
          <a:prstGeom prst="ellipse">
            <a:avLst/>
          </a:prstGeom>
          <a:solidFill>
            <a:srgbClr val="9E2A2B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5522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207008" y="5431536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측정도구의 원출처 누락은 심사에서 가장 자주 지적되는 항목입니다. 문항을 빌려 왔다면 반드시 저자와 연도를 밝히십시오.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CHAPTER TEMPLATE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조사연구 연구방법 장(Chapter) 작성 템플릿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2286000" cy="356616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1328"/>
            <a:ext cx="2286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제3장</a:t>
            </a:r>
            <a:endParaRPr lang="en-US" sz="15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연구방법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0" y="1481328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783080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49040" y="157276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제1절  연구모형 및 가설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2267712"/>
            <a:ext cx="8046720" cy="1298448"/>
          </a:xfrm>
          <a:prstGeom prst="roundRect">
            <a:avLst>
              <a:gd name="adj" fmla="val 5634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2916936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749040" y="23591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제2절  조사대상 및 자료수집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77640" y="2724912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 표집방법 — 층화표집 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3072384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 설문지 배포 및 회수 절차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3749040"/>
            <a:ext cx="8046720" cy="1298448"/>
          </a:xfrm>
          <a:prstGeom prst="roundRect">
            <a:avLst>
              <a:gd name="adj" fmla="val 5634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4398264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749040" y="384048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제3절  변수의 조작적 정의 및 측정도구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4206240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 독립·종속변수 척도의 출처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77640" y="4553712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 신뢰도·타당도 검증 결과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5230368"/>
            <a:ext cx="8046720" cy="950976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5705856"/>
            <a:ext cx="5029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749040" y="532180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제4절  분석 방법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77640" y="5687568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 기술통계, t검정, 회귀분석 등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2303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537667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376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07008" y="5285232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절 구성은 대부분의 대학원 심사 양식과 호환됩니다. 목차를 먼저 확정하고 빈칸을 채워 나가면 집필 속도가 크게 붙습니다.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결과(Results) 작성법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말하게 하십시오. 주관적 해석은 ‘논의’ 장으로 미룹니다.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7860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기술통계 (Descriptive)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962656"/>
            <a:ext cx="47320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표본의 일반적 특성 (계급·연령·복무기간 분포)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변수의 평균(M)과 표준편차(SD)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0780" y="2395728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5100" y="257860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추론통계 (Inferential)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5100" y="2962656"/>
            <a:ext cx="47320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t-test, ANOVA — 집단 간 차이 검증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상관분석, 회귀분석 — 변수 간 관계와 영향력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553712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70001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표와 그림을 적극 활용하되, 본문은 핵심 수치만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5029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있는 숫자를 본문에서 그대로 되풀이하지 마십시오. 본문은 “무엇이 유의했고, 어느 방향이었는가”만 짚고, 세부 수치는 표가 담당하게 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 WRITING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기술 방식 예시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신병 정신전력교육 연구에서 인용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93392"/>
            <a:ext cx="2926080" cy="402336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9339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객관적이고 명확한 수치 제시 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“정신전력 수준은 교육 전(T1) 평균 </a:t>
            </a:r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3.84점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교육 종료 시점(T3) 평균 </a:t>
            </a:r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4.16점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향상되었다. t검정 결과</a:t>
            </a:r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 = 9.75, p &lt; .001)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이는 통계적으로 유의미한 차이이며, 신병 교육 수료 시점(T5)까지 효과가 유지됨을 확인하였다.”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52806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1480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2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쓰지 마십시오 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47320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“점수가 엄청나게 올랐다” — 감정적·주관적 표현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“…한 것으로 사료된다” — 결과 장에서의 추측성 서술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40780" y="3931920"/>
            <a:ext cx="528066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5100" y="411480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포함할 것 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5100" y="4480560"/>
            <a:ext cx="47320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검정통계량과 유의확률을 괄호 안에 제시 (t값, F값, p값)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시점·집단을 명시해 무엇과 무엇의 차이인지 분명히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 DISCUSSION &amp;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논의(Discussion) 및 결론(Conclusion)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257800" cy="3703320"/>
          </a:xfrm>
          <a:prstGeom prst="roundRect">
            <a:avLst>
              <a:gd name="adj" fmla="val 1975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제5장  논의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15798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“왜 이런 결과가 나왔는가?”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4709160" cy="694944"/>
          </a:xfrm>
          <a:prstGeom prst="roundRect">
            <a:avLst>
              <a:gd name="adj" fmla="val 9211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334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해석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90779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 검증 결과가 무엇을 뜻하는지 설명합니다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4709160" cy="694944"/>
          </a:xfrm>
          <a:prstGeom prst="roundRect">
            <a:avLst>
              <a:gd name="adj" fmla="val 9211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564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선행연구와 비교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7307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연구와 일치하는지, 상반되는지 따집니다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4206240"/>
            <a:ext cx="4709160" cy="694944"/>
          </a:xfrm>
          <a:prstGeom prst="roundRect">
            <a:avLst>
              <a:gd name="adj" fmla="val 9211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2793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 도출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55371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이론적·실무적 시사점을 나누어 씁니다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536192"/>
            <a:ext cx="5257800" cy="3703320"/>
          </a:xfrm>
          <a:prstGeom prst="roundRect">
            <a:avLst>
              <a:gd name="adj" fmla="val 1975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737360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제6장  결론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37960" y="215798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“그래서 무엇을 알게 되었는가?”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2560320"/>
            <a:ext cx="47091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6334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290779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연구의 핵심을 압축해 다시 진술합니다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3383280"/>
            <a:ext cx="47091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4564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37307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해군 정책 및 부대 관리를 위한 구체적 제언을 답니다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4206240"/>
            <a:ext cx="47091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2793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한계와 후속 연구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455371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연구의 한계점과 후속 연구 방향을 제시합니다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44068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558698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586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07008" y="5495544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한계점을 숨기지 마십시오. 한계를 정확히 아는 연구자가 결과도 정확히 해석합니다 — 심사위원이 보는 것도 그 지점입니다.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 PRACTICAL TIPS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작성 실무 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007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 스타일 인용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04825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인용 —  (홍길동, 2023),  (Smith &amp; Jones, 2021)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참고문헌 목록의 형식(저자·연도·제목·출처 순서, 이탤릭, 문장부호)까지 철저히 준수합니다.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127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학술적 글쓰기 3원칙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3444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73075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44752" y="3712464"/>
            <a:ext cx="2383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명확성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96112" y="4206240"/>
            <a:ext cx="2932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문장에는 하나의 생각만 담습니다.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58640" y="3520440"/>
            <a:ext cx="344424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4672" y="373075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4672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3312" y="3712464"/>
            <a:ext cx="2383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간결성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14672" y="4206240"/>
            <a:ext cx="2932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불필요한 수식어를 제거합니다.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14672" y="4791456"/>
            <a:ext cx="2932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2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매우 상당한 영향을 미쳤을 것으로 사료된다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14672" y="5230368"/>
            <a:ext cx="2932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 유의미한 영향을 미쳤다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77200" y="3520440"/>
            <a:ext cx="3444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3232" y="373075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3232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81872" y="3712464"/>
            <a:ext cx="2383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객관성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33232" y="4206240"/>
            <a:ext cx="2932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1인칭 대명사(‘나’, ‘저자’) 사용을 자제합니다.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 COMMON MISTAKES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흔한 실수 Top 5와 개선 방법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36192"/>
          <a:ext cx="10881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931920"/>
                <a:gridCol w="63093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흔한 실수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방법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서론과 결론의 불일치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연구 목적 – 가설 – 결론이 하나의 실로 이어지는지 점검합니다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측정도구 출처 누락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설문 문항의 원출처(저자, 연도)를 반드시 명시합니다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 / 그림 번호 오류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 번호 매기기를 활용하거나 최종 제출 전 교열합니다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과도한 일반화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해군 소수 부대의 측정 결과를 전 군에 적용하는 해석에 주의합니다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참고문헌 불일치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본문 인용 문헌이 목록에 있는지 1:1 크로스체크합니다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920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50292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2주 전 체크리스트로 활용하십시오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60120" y="535838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항목 모두 내용이 아니라 ‘일관성’의 문제입니다. 원고를 처음부터 끝까지 한 번에 읽으면 대부분 드러납니다.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 RESEARCH ETHICS &amp;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 윤리와 AI 도구 활용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표절(Plagiarism) 예방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타인의 아이디어나 문장을 가져올 때는 반드시 인용 출처를 표시합니다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6단어 이상 연속으로 동일하면 표절로 간주될 수 있습니다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703320"/>
            <a:ext cx="4709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3840480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재구성 (Paraphrasing)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4151376"/>
            <a:ext cx="4306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원문을 덮고 내 언어로 다시 쓴 뒤 출처를 답니다. 단어만 바꾸는 것은 재구성이 아니라 표절입니다.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536192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37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도구 활용 가이드라인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537960" y="2194560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141B44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2677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E8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20840" y="25420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브레인스토밍 · 번역 · 문법 교정 · 통계 코드 작성 보조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3200400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141B44"/>
          </a:solidFill>
          <a:ln w="19050">
            <a:solidFill>
              <a:srgbClr val="9E2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2735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B0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 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0840" y="35478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본문 생성 및 복사/붙여넣기 · 가짜 출처(Hallucination) 생성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4279392"/>
            <a:ext cx="4709160" cy="704088"/>
          </a:xfrm>
          <a:prstGeom prst="roundRect">
            <a:avLst>
              <a:gd name="adj" fmla="val 1039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279392"/>
            <a:ext cx="4709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연구의 ‘비서’일 뿐, ‘저자’가 될 수 없습니다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대학원의 AI 활용 규정을 반드시 먼저 확인하십시오. 활용 범위를 밝히도록 요구하는 곳이 늘고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737360"/>
            <a:ext cx="4754880" cy="4754880"/>
          </a:xfrm>
          <a:prstGeom prst="ellipse">
            <a:avLst/>
          </a:prstGeom>
          <a:solidFill>
            <a:srgbClr val="2B3A7A"/>
          </a:solidFill>
          <a:ln w="12700">
            <a:solidFill>
              <a:srgbClr val="2B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 WRAP-UP &amp; Q&amp;A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및 마무리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28316" cy="1691640"/>
          </a:xfrm>
          <a:prstGeom prst="roundRect">
            <a:avLst>
              <a:gd name="adj" fmla="val 4324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956816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2432304"/>
            <a:ext cx="2089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2706624"/>
            <a:ext cx="20894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체제 — 2장과 4장이 논문의 무게중심입니다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4428" y="1783080"/>
            <a:ext cx="2528316" cy="1691640"/>
          </a:xfrm>
          <a:prstGeom prst="roundRect">
            <a:avLst>
              <a:gd name="adj" fmla="val 4324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3884" y="1956816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3884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43884" y="2432304"/>
            <a:ext cx="2089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43884" y="2706624"/>
            <a:ext cx="20894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– 가설 – 결과 – 결론이 하나의 실로 이어져야 합니다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08776" y="1783080"/>
            <a:ext cx="2528316" cy="1691640"/>
          </a:xfrm>
          <a:prstGeom prst="roundRect">
            <a:avLst>
              <a:gd name="adj" fmla="val 4324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232" y="1956816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8232" y="2432304"/>
            <a:ext cx="2089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엄밀성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28232" y="2706624"/>
            <a:ext cx="20894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측정도구의 출처와 통계치를 빠짐없이 제시하십시오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93124" y="1783080"/>
            <a:ext cx="2528316" cy="1691640"/>
          </a:xfrm>
          <a:prstGeom prst="roundRect">
            <a:avLst>
              <a:gd name="adj" fmla="val 4324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12580" y="1956816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258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12580" y="2432304"/>
            <a:ext cx="2089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12580" y="2706624"/>
            <a:ext cx="20894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인용은 정확하게, AI는 비서로만 활용하십시오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3703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“훌륭한 지휘관은 훌륭한 학자가 될 수 있습니다.</a:t>
            </a:r>
            <a:endParaRPr lang="en-US" sz="17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여러분의 실무 경험을 객관적인 데이터와 이론적 틀로 엮어내는 것이 학위논문입니다.”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977640" y="4846320"/>
            <a:ext cx="4206240" cy="658368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48463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  질의응답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" y="568756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해군 소령 여러분의 성공적인 논문 작성을 응원합니다. 감사합니다.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학위논문 작성법 특강 — 조사연구를 중심으로</dc:title>
  <dc:subject>PptxGenJS Presentation</dc:subject>
  <dc:creator>학위논문 작성법 특강</dc:creator>
  <cp:lastModifiedBy>학위논문 작성법 특강</cp:lastModifiedBy>
  <cp:revision>1</cp:revision>
  <dcterms:created xsi:type="dcterms:W3CDTF">2026-08-24T02:47:19Z</dcterms:created>
  <dcterms:modified xsi:type="dcterms:W3CDTF">2026-08-24T02:47:19Z</dcterms:modified>
</cp:coreProperties>
</file>