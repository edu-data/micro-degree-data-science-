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특강 개요 소개. 150분 3개 교시 구성, Part 2가 핵심임을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 후 질의응답. 수강생 각자의 부대 현안을 연구문제 형태로 바꿔보게 하는 즉석 실습으로 마무리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2B3A7A"/>
          </a:solidFill>
          <a:ln w="127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3291840" cy="3291840"/>
          </a:xfrm>
          <a:prstGeom prst="ellipse">
            <a:avLst/>
          </a:prstGeom>
          <a:solidFill>
            <a:srgbClr val="16205A"/>
          </a:solidFill>
          <a:ln w="12700">
            <a:solidFill>
              <a:srgbClr val="162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SURVEY RESEARCH METHODOLOGY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연구조사방법론 특강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5786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조사연구(Survey Research)의 기초부터 군사 분야 적용까지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4015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600200" y="34015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지휘참모 2과정 2기 해군소령 61명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9684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00200" y="3968496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150분 (5~7교시)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53542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600200" y="4535424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기초 · Part 2 설계 · Part 3 분석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1023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600200" y="510235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(강사 이름)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44240" cy="4206240"/>
          </a:xfrm>
          <a:prstGeom prst="roundRect">
            <a:avLst>
              <a:gd name="adj" fmla="val 2124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8288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450592"/>
            <a:ext cx="285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조사연구의 기초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108960"/>
            <a:ext cx="285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5교시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3493008"/>
            <a:ext cx="28590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연구란 무엇인가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과정 6단계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연구문제와 가설 설정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문헌 검토 및 실전 예시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8640" y="1572768"/>
            <a:ext cx="3444240" cy="4206240"/>
          </a:xfrm>
          <a:prstGeom prst="roundRect">
            <a:avLst>
              <a:gd name="adj" fmla="val 2124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51248" y="18288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124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51248" y="2450592"/>
            <a:ext cx="285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조사연구 설계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51248" y="3108960"/>
            <a:ext cx="285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6교시 · 핵심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51248" y="3493008"/>
            <a:ext cx="28590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조사연구의 개념과 유형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조사연구 절차와 설문지 설계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측정의 질 (타당도·신뢰도)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군사 분야 조사설계 사례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77200" y="1572768"/>
            <a:ext cx="3444240" cy="4206240"/>
          </a:xfrm>
          <a:prstGeom prst="roundRect">
            <a:avLst>
              <a:gd name="adj" fmla="val 2124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9808" y="18288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980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9808" y="2450592"/>
            <a:ext cx="285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자료수집 · 분석 · 해석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9808" y="3108960"/>
            <a:ext cx="285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7교시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9808" y="3493008"/>
            <a:ext cx="28590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자료수집 실무 및 연구윤리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기술통계와 추론통계 개요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분석 결과 해석 사례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및 Q&amp;A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2는 본 특강의 핵심입니다 — 신뢰할 수 있는 데이터를 얻기 위한 설계에 가장 많은 시간을 배분합니다.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조사연구의 기초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Survey Research Basics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401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군사적 의사결정을 위한 체계적 접근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2583180" cy="1234440"/>
          </a:xfrm>
          <a:prstGeom prst="roundRect">
            <a:avLst>
              <a:gd name="adj" fmla="val 592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455371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53312" y="4498848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연구란 무엇인가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97580" y="4343400"/>
            <a:ext cx="2583180" cy="1234440"/>
          </a:xfrm>
          <a:prstGeom prst="roundRect">
            <a:avLst>
              <a:gd name="adj" fmla="val 592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6180" y="455371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61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10812" y="4498848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과정 6단계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4343400"/>
            <a:ext cx="2583180" cy="1234440"/>
          </a:xfrm>
          <a:prstGeom prst="roundRect">
            <a:avLst>
              <a:gd name="adj" fmla="val 592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455371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68312" y="4498848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연구문제와 가설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12580" y="4343400"/>
            <a:ext cx="2583180" cy="1234440"/>
          </a:xfrm>
          <a:prstGeom prst="roundRect">
            <a:avLst>
              <a:gd name="adj" fmla="val 592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41180" y="455371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11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25812" y="4498848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문헌 검토·실전 예시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  WHAT IS RESEARCH?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연구란 무엇인가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9105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과학적 연구(Scientific Research)란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186537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체계적이고 객관적인 과정을 통해 새로운 지식을 창출하거나 기존 지식을 검증하는 활동. 군사 분야에서는 자원의 효율적 배분, 교육훈련 성과 측정, 부대 사기 진단 등을 위해 필수적입니다.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5176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389120"/>
                <a:gridCol w="47548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일상적 판단 (Everyday Judgment)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체계적 연구 (Systematic Research)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직관, 개인적 경험, 관습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경험적 데이터, 체계적 관찰, 논리적 추론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임의적, 비공식적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절차적·공식적, 반복 가능(Replicable)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주관적, 오류 가능성 높음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객관적, 신뢰성·타당성 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13892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528523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07008" y="5193792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훌륭한 지휘관의 ‘감’도 중요하지만, 이를 뒷받침할 객관적 ‘데이터’가 있을 때 정책적 설득력이 극대화됩니다.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  RESEARCH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 과정 6단계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81051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3584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237744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식별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980944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해결해야 할 군사적·행정적 현안 도출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13432" y="1911096"/>
            <a:ext cx="146304" cy="237744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160020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90672" y="181051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96896" y="237744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문헌 검토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596896" y="2980944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 연구 및 관련 규정·교범 확인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60520" y="1911096"/>
            <a:ext cx="146304" cy="237744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4256" y="160020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81051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43984" y="237744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목적·가설 설정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43984" y="2980944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간 관계에 대한 잠정적 결론 도출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07608" y="1911096"/>
            <a:ext cx="146304" cy="237744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1344" y="160020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4848" y="181051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91072" y="237744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 설계·자료 수집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91072" y="2980944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설문지, 면접, 관찰을 통한 데이터 획득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54696" y="1911096"/>
            <a:ext cx="146304" cy="237744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160020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31936" y="181051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31936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38160" y="237744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및 해석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138160" y="2980944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통계적 기법을 활용한 가설 검증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701784" y="1911096"/>
            <a:ext cx="146304" cy="237744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75520" y="160020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79024" y="181051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79024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985248" y="237744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작성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985248" y="2980944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지휘관 및 유관 부서에 결과 공유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46177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47548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단계는 되돌아갈 수 있습니다 (Iterative)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60120" y="5084064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과정에서 자료의 한계가 드러나면 가설이나 조사 설계 단계로 돌아가 보완합니다. 순차적 진행이 아니라 순환적 개선 과정이라는 점이 실제 연구와 교과서의 가장 큰 차이입니다.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RESEARCH PARADIGM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양적연구 vs 질적연구 개관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36192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45720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양적연구 (Quantitative)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질적연구 (Qualitative)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변수 간 관계 검증, 일반화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현상의 의미 탐색, 맥락 이해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수치 데이터 (설문, 실험)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텍스트, 관찰, 면담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통계적 분석 (SPSS, AMOS)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코딩, 주제 분석 (NVivo)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대규모 (100명 이상 권장)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소규모 (5~30명)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수치, 표, 그래프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내러티브, 범주, 이론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80560"/>
            <a:ext cx="58521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61772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조사연구(Survey Research)는 대표적인 양적연구 방법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4400" y="4956048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특강은 양적연구, 그 중에서도 설문조사 기반 연구에 집중합니다.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66560" y="448056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0" y="46177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혼합연구(Mixed Methods) 참고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040880" y="495604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신병 정신전력교육 연구는 설문(양적)과 FGI·심층면담(질적)을 병행하여 다각적 진단을 실시했습니다.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1-3  RESEARCH QUESTIONS &amp; HYPOTHESES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연구문제와 가설 설정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44240" cy="365760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72768"/>
            <a:ext cx="34442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72768"/>
            <a:ext cx="300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연구문제의 요건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2340864"/>
            <a:ext cx="3005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명확하고 구체적일 것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경험적으로 검증 가능할 것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수집이 실제로 가능할 것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부대·정책에 시사점을 줄 것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8640" y="1572768"/>
            <a:ext cx="3444240" cy="365760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8640" y="1572768"/>
            <a:ext cx="34442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8096" y="1572768"/>
            <a:ext cx="300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변수(Variables)의 이해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8096" y="2340864"/>
            <a:ext cx="3005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독립변수: 원인이 되는 변수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(예: 교육 프로그램의 종류)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종속변수: 결과가 되는 변수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(예: 교육 이수 후 정신전력 점수)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77200" y="1572768"/>
            <a:ext cx="3444240" cy="3657600"/>
          </a:xfrm>
          <a:prstGeom prst="roundRect">
            <a:avLst>
              <a:gd name="adj" fmla="val 2124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77200" y="1572768"/>
            <a:ext cx="34442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6656" y="1572768"/>
            <a:ext cx="300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가설(Hypothesis)의 유형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96656" y="2340864"/>
            <a:ext cx="3005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귀무가설 H₀: 차이·관계가 없다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(예: 교육 방식에 따라 차이가 없다)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대립가설 H₁: 연구자가 입증하려는 가설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(예: 교육 방식에 따라 유의한 차이가 있다)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558698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5586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5495544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가설은 반드시 ‘검증 가능한 형태’로 진술하십시오. 검증할 수 없는 주장은 연구문제가 아니라 의견입니다.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FORMULA &amp; VARIABLES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연구문제 작성 공식과 변수의 관계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81328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“[독립변수]가 [종속변수]에 미치는 영향”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“[독립변수]에 따른 [종속변수]의 차이”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42032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39496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연구문제 예시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독립변수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종속변수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영향 관계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해군 장교의 변혁적 리더십이 부하의 직무만족에 미치는 영향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변혁적 리더십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직무만족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집단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방식(민간위탁 vs 군 자체)에 따른 장병 인성 점수의 차이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인성 점수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매개 효과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직무스트레스가 이직의도에 미치는 영향에서 조직몰입의 매개효과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직무스트레스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이직의도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70916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관계 기본 모형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43000" y="55778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55778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독립변수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교육 방식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794760" y="5797296"/>
            <a:ext cx="960120" cy="219456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74920" y="55778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74920" y="55778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매개변수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교육 만족도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26680" y="5797296"/>
            <a:ext cx="960120" cy="219456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06840" y="55778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06840" y="55778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종속변수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정신전력 수준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74920" y="512064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조절변수 (예: 복무 동기)  →  관계의 강도를 바꾼다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1-4 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문헌 검토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4114800" cy="2788920"/>
          </a:xfrm>
          <a:prstGeom prst="roundRect">
            <a:avLst>
              <a:gd name="adj" fmla="val 2623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830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문헌 검토의 목적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22402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연구의 독창성 확보 (중복 연구 방지)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이론적 배경과 변수 관계의 근거 확보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측정도구(설문 문항) 벤치마킹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 연구의 한계에서 내 연구의 필요성 도출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74920" y="1627632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문헌 검토 5단계 절차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74920" y="2057400"/>
            <a:ext cx="329184" cy="32918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50408" y="2057400"/>
            <a:ext cx="5971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키워드 선정 (예: 장병 사기, 인성교육 효과)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74920" y="253288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50408" y="2532888"/>
            <a:ext cx="5971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문헌 검색 (국회도서관, 국방 학술DB, RISS 등)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74920" y="3008376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3008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50408" y="3008376"/>
            <a:ext cx="5971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문헌 스크리닝 및 질 평가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74920" y="3483864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50408" y="3483864"/>
            <a:ext cx="5971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추출 및 체계적 정리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74920" y="395935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50408" y="3959352"/>
            <a:ext cx="5971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간 관계 분석 및 요약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76402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764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07008" y="4672584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선행연구 정리 전략: Excel이나 EndNote 등을 활용해 [저자/연도 · 연구목적 · 연구대상 · 측정변수 · 주요결과] 표로 관리하면 편리합니다.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1-5  CASE 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 예시: 군사 분야 연구문제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수행된 3건의 국방 분야 보고서에서 추출한 연구문제입니다.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8813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029968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2996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874520" y="195681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장병 인성교육 민간위탁 vs 군 자체 프로그램의 효과성에 차이가 있는가?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74520" y="2322576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(2022) 장병 인성교육 효과성 비교분석 연구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259689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독립변수 — 인성교육 방식 (민간위탁 vs 군종장교 주관 회복탄력성)</a:t>
            </a:r>
            <a:endParaRPr lang="en-US" sz="1200" dirty="0"/>
          </a:p>
          <a:p>
            <a:pPr marL="165100" indent="-1651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종속변수 — 장병의 인성, 회복탄력성, 사기 점수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08813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511296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51129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874520" y="343814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실감형 디지털 정신전력교육의 실태와 개선 방안은 무엇인가?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74520" y="380390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(2024) 실감형 디지털 정신전력교육 실태 및 개선 방안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40782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변수 — VR 체험관 인프라 현황, 운영 행정 부담, 사용자 만족도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773168"/>
            <a:ext cx="10881360" cy="1298448"/>
          </a:xfrm>
          <a:prstGeom prst="roundRect">
            <a:avLst>
              <a:gd name="adj" fmla="val 5634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992624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99262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874520" y="49194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신병 정신전력교육이 정신전력 수준 향상에 효과가 있는가?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74520" y="528523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(2025) 신병 정신전력교육 효과 분석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555955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 — 체감·실감·공감형 교육은 신병의 정신전력 수준을 유의하게 향상시킬 것이다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조사연구 설계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Research Design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401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신뢰할 수 있는 데이터를 얻기 위한 뼈대 만들기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2583180" cy="1234440"/>
          </a:xfrm>
          <a:prstGeom prst="roundRect">
            <a:avLst>
              <a:gd name="adj" fmla="val 592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455371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53312" y="4498848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개념과 유형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97580" y="4343400"/>
            <a:ext cx="2583180" cy="1234440"/>
          </a:xfrm>
          <a:prstGeom prst="roundRect">
            <a:avLst>
              <a:gd name="adj" fmla="val 592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6180" y="455371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61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10812" y="4498848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절차와 표집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4343400"/>
            <a:ext cx="2583180" cy="1234440"/>
          </a:xfrm>
          <a:prstGeom prst="roundRect">
            <a:avLst>
              <a:gd name="adj" fmla="val 592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455371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68312" y="4498848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설문지 설계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12580" y="4343400"/>
            <a:ext cx="2583180" cy="1234440"/>
          </a:xfrm>
          <a:prstGeom prst="roundRect">
            <a:avLst>
              <a:gd name="adj" fmla="val 592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41180" y="455371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11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25812" y="4498848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타당도·신뢰도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  TYPES OF SURVEY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조사연구의 개념과 유형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시점에 따른 분류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84832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횡단 조사 (Cross-sectional)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414016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시점에 1회 자료 수집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944368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E8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 시간과 비용 절약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3291840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B0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－  인과관계 입증이 어려움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16966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종단 조사 (Longitudinal)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498848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시점에 반복 수집 (사전–사후–추적)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6112" y="5029200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 변화 추이 파악, 인과 추론 용이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5376672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2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－  비용과 시간 과다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1517904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목적에 따른 분류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1901952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2084832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기술적 조사 (Descriptive)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9672" y="2414016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현상의 실태·빈도를 설명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9672" y="2944368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E8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 예: 우리 부대원의 교육 만족도는 몇 점인가?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19672" y="3291840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B0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－  관계 설명에는 한계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986784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4169664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설명적 조사 (Explanatory)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9672" y="4498848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현상의 인과관계를 설명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19672" y="5029200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 예: 교육 방식에 따라 만족도가 왜 달라지는가?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19672" y="5376672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2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－  정교한 설계 필요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  PROCEDURE &amp; SAMPLING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조사연구 절차 및 표집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모집단 (Population)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9385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대상 전체 — 예: 대한민국 해군 전체 장병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883664"/>
            <a:ext cx="502920" cy="237744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(Sample)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12280" y="192024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모집단을 대표하도록 추출된 일부 — 예: 2함대 장병 500명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846320"/>
                <a:gridCol w="3840480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확률 표집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(Probability)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모집단의 모든 구성원이 뽑힐 확률이 알려져 있음 — 대표성 높음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단순무작위 표집, 층화 표집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(계급별·부대별 비율에 맞춰 표집)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비확률 표집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(Non-probability)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연구자의 편의나 주관적 판단에 따라 추출 — 대표성 낮음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편의 표집(접근하기 쉬운 장병만 대상),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유의 표집, 눈덩이 표집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502920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5175504"/>
            <a:ext cx="274320" cy="274320"/>
          </a:xfrm>
          <a:prstGeom prst="ellipse">
            <a:avLst/>
          </a:prstGeom>
          <a:solidFill>
            <a:srgbClr val="9E2A2B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5175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07008" y="5084064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크기: 집단 비교에는 집단당 최소 30명 이상이 권장되며, 오차율을 줄이려면 수백 명 이상이 바람직합니다.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2-3  QUESTIONNAIRE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설문지 설계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80660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19072"/>
            <a:ext cx="4768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유형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084832"/>
            <a:ext cx="47685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폐쇄형 질문 — 선택지 제시(만족/보통/불만족). 분석이 쉬움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개방형 질문 — 자유 서술. 심층 정보 획득에 유리하나 분석 부담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0780" y="1554480"/>
            <a:ext cx="528066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6812" y="1719072"/>
            <a:ext cx="47685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리커트 척도 (Likert Scale)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6812" y="2048256"/>
            <a:ext cx="4768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응답자의 동의 정도를 5점 또는 7점 척도로 측정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6812" y="2423160"/>
            <a:ext cx="865937" cy="749808"/>
          </a:xfrm>
          <a:prstGeom prst="roundRect">
            <a:avLst>
              <a:gd name="adj" fmla="val 8537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6812" y="2423160"/>
            <a:ext cx="86593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전혀 아니다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72477" y="2423160"/>
            <a:ext cx="865937" cy="749808"/>
          </a:xfrm>
          <a:prstGeom prst="roundRect">
            <a:avLst>
              <a:gd name="adj" fmla="val 8537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2477" y="2423160"/>
            <a:ext cx="86593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48142" y="2423160"/>
            <a:ext cx="865937" cy="749808"/>
          </a:xfrm>
          <a:prstGeom prst="roundRect">
            <a:avLst>
              <a:gd name="adj" fmla="val 8537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8142" y="2423160"/>
            <a:ext cx="86593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23806" y="2423160"/>
            <a:ext cx="865937" cy="749808"/>
          </a:xfrm>
          <a:prstGeom prst="roundRect">
            <a:avLst>
              <a:gd name="adj" fmla="val 8537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23806" y="2423160"/>
            <a:ext cx="86593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399471" y="2423160"/>
            <a:ext cx="865937" cy="749808"/>
          </a:xfrm>
          <a:prstGeom prst="roundRect">
            <a:avLst>
              <a:gd name="adj" fmla="val 853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99471" y="2423160"/>
            <a:ext cx="86593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매우 그렇다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설문지 구성 원칙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005072"/>
            <a:ext cx="254889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42062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4645152"/>
            <a:ext cx="21465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쉽고 명확한 용어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41248" y="4992624"/>
            <a:ext cx="21465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모호하거나 전문적인 표현을 지양합니다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17570" y="4005072"/>
            <a:ext cx="254889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18738" y="42062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8738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18738" y="4645152"/>
            <a:ext cx="21465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 질문 피하기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618738" y="4992624"/>
            <a:ext cx="21465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교육은 유익하고 재미있었습니까?”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95060" y="4005072"/>
            <a:ext cx="254889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6228" y="42062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96228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96228" y="4645152"/>
            <a:ext cx="21465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유도성 질문 피하기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396228" y="4992624"/>
            <a:ext cx="21465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“지휘관의 훌륭한 지도에 만족하십니까?”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72550" y="4005072"/>
            <a:ext cx="254889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73718" y="42062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73718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73718" y="4645152"/>
            <a:ext cx="21465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인구통계 문항은 뒤로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173718" y="4992624"/>
            <a:ext cx="21465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계급·성별 등은 가급적 맨 뒤에 배치합니다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ITEM WRITING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리커트 척도 문항 작성의 좋은 예와 나쁜 예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81328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  <a:gridCol w="384048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나쁜 문항 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좋은 문항 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이중 질문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E2A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“이 교육은 유익하고 흥미로웠다”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“이 교육은 유익하였다”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유익성과 흥미를 분리해야 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유도성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E2A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“우수한 정신전력교육에 만족한다”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“정신전력교육에 만족한다”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‘우수한’이 응답을 유도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부정형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E2A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“교육이 불필요하지 않다고 생각한다”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“교육이 필요하다고 생각한다”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이중 부정으로 혼란 유발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모호함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E2A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“교육을 자주 받았다”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“지난 6개월간 교육을 3회 이상 받았다”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‘자주’의 기준이 불명확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224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설문지 전체 구성 순서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4645152"/>
            <a:ext cx="1869034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4645152"/>
            <a:ext cx="17227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인사말 및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목적 안내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591410" y="5010912"/>
            <a:ext cx="219456" cy="219456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93162" y="4645152"/>
            <a:ext cx="1869034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66314" y="4645152"/>
            <a:ext cx="17227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동의서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(Informed Consent)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44491" y="5010912"/>
            <a:ext cx="219456" cy="219456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46243" y="4645152"/>
            <a:ext cx="1869034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9395" y="4645152"/>
            <a:ext cx="17227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주요 측정 문항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(독립·종속·매개변수)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097573" y="5010912"/>
            <a:ext cx="219456" cy="219456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99325" y="4645152"/>
            <a:ext cx="1869034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72477" y="4645152"/>
            <a:ext cx="17227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인구통계학적 문항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(계급·연령·학력)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350654" y="5010912"/>
            <a:ext cx="219456" cy="219456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52406" y="4645152"/>
            <a:ext cx="1869034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25558" y="4645152"/>
            <a:ext cx="17227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감사 인사 및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안내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2-4  VALIDITY &amp; 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측정의 질: 타당도와 신뢰도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257800" cy="3429000"/>
          </a:xfrm>
          <a:prstGeom prst="roundRect">
            <a:avLst>
              <a:gd name="adj" fmla="val 2133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3736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타당도 (Validity)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2121408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측정하고자 하는 것을 제대로 측정했는가?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" y="2468880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“과녁의 중앙을 맞추는가”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2889504"/>
            <a:ext cx="46725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타당도 — 문항이 개념을 충분히 대표하는가 (전문가 자문 활용)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구인 타당도 — 추상적 개념(예: 군인정신)을 잘 설명하는가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준거 타당도 — 다른 검증된 기준과 일치하는가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536192"/>
            <a:ext cx="5257800" cy="3429000"/>
          </a:xfrm>
          <a:prstGeom prst="roundRect">
            <a:avLst>
              <a:gd name="adj" fmla="val 2133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73736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신뢰도 (Reliability)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56248" y="2121408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측정해도 일관된 결과가 나오는가?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56248" y="2468880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“과녁의 한 곳에 모이는가”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56248" y="2889504"/>
            <a:ext cx="46725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지표 — Cronbach’s α (크론바흐 알파)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통상 0.7 이상이면 신뢰할 만하다고 판단</a:t>
            </a:r>
            <a:endParaRPr lang="en-US" sz="1250" dirty="0"/>
          </a:p>
          <a:p>
            <a:pPr marL="165100" indent="-1651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수가 지나치게 적으면 계수가 낮아짐에 유의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175504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5321808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5230368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테스트(Pilot Test): 본 조사 전에 20~30명을 대상으로 예비 조사를 실시해 문항의 문제점을 찾고 신뢰도를 사전 점검하십시오.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2-5  CASE STUDY 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 예시: 실제 조사설계 사례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보고서 『신병 정신전력교육 효과 분석』 사례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385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평가모형 적용 — CIPP 모형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32688" y="2359152"/>
            <a:ext cx="2368296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359152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Context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575304" y="2359152"/>
            <a:ext cx="2368296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5304" y="2359152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2359152"/>
            <a:ext cx="2368296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359152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860536" y="2359152"/>
            <a:ext cx="2368296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0536" y="2359152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</a:t>
            </a:r>
            <a:endParaRPr lang="en-US" sz="13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35844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반복측정 설계 (종단연구) — 교육 효과의 지속성을 5개 시점에 걸쳐 측정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05072"/>
            <a:ext cx="197144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133088"/>
            <a:ext cx="1751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9808" y="4553712"/>
            <a:ext cx="1751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입소 첫 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4846320"/>
            <a:ext cx="1751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29814" y="4599432"/>
            <a:ext cx="201168" cy="201168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67558" y="4005072"/>
            <a:ext cx="197144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7286" y="4133088"/>
            <a:ext cx="1751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977286" y="4553712"/>
            <a:ext cx="1751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977286" y="4846320"/>
            <a:ext cx="1751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체감·실감 교육 직후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57293" y="4599432"/>
            <a:ext cx="201168" cy="201168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95037" y="4005072"/>
            <a:ext cx="197144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04765" y="4133088"/>
            <a:ext cx="1751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204765" y="4553712"/>
            <a:ext cx="1751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04765" y="4846320"/>
            <a:ext cx="1751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완료 시점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84771" y="4599432"/>
            <a:ext cx="201168" cy="201168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22515" y="4005072"/>
            <a:ext cx="197144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32243" y="4133088"/>
            <a:ext cx="1751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32243" y="4553712"/>
            <a:ext cx="1751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기수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432243" y="4846320"/>
            <a:ext cx="1751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측정 (통제집단 역할)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12250" y="4599432"/>
            <a:ext cx="201168" cy="201168"/>
          </a:xfrm>
          <a:prstGeom prst="rightArrow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49994" y="4005072"/>
            <a:ext cx="1971446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59722" y="4133088"/>
            <a:ext cx="1751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659722" y="4553712"/>
            <a:ext cx="17519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659722" y="4846320"/>
            <a:ext cx="1751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신병교육 수료 (추적 조사)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5596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시점을 늘릴수록 “교육 직후의 일시적 상승”과 “유지되는 효과”를 구분할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2-5  CASE STUDY 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 예시: 실제 조사설계 사례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65376"/>
            <a:ext cx="475488" cy="47548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72768" y="1719072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설문지 구성 실제 (2025년 보고서)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72768" y="2084832"/>
            <a:ext cx="9646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핵심 요인 — 사전설명 / 구성이해·콘텐츠효과 / 군 정체성인식 / 몰입 / 기억지속성 / 만족도 / 추천의도</a:t>
            </a:r>
            <a:endParaRPr lang="en-US" sz="1200" dirty="0"/>
          </a:p>
          <a:p>
            <a:pPr marL="165100" indent="-1651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교육방식별 특화 문항 — 체감형(현장 미션), 실감형(VR·파노라마의 시청각 몰입감), 공감형(탈북민 강연 몰입도)을 분리 측정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35808"/>
            <a:ext cx="10881360" cy="1298448"/>
          </a:xfrm>
          <a:prstGeom prst="roundRect">
            <a:avLst>
              <a:gd name="adj" fmla="val 5634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346704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46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72768" y="3200400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실태조사 설계 (2024년 보고서)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72768" y="3566160"/>
            <a:ext cx="9646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35개소 부대의 VR 인프라 구축 현황 및 교육 운영 실태 파악</a:t>
            </a:r>
            <a:endParaRPr lang="en-US" sz="1200" dirty="0"/>
          </a:p>
          <a:p>
            <a:pPr marL="165100" indent="-1651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횡단조사 + 관계자 FGI(초점집단면접)를 병행하여 수치와 맥락을 함께 확보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517136"/>
            <a:ext cx="10881360" cy="1298448"/>
          </a:xfrm>
          <a:prstGeom prst="roundRect">
            <a:avLst>
              <a:gd name="adj" fmla="val 5634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82803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28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72768" y="4681728"/>
            <a:ext cx="9646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층화 표집을 활용한 비교분석 (2022년 보고서)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72768" y="5047488"/>
            <a:ext cx="9646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민간위탁 인성교육 집단 vs 군종장교 회복탄력성 집단 vs 통제 집단</a:t>
            </a:r>
            <a:endParaRPr lang="en-US" sz="1200" dirty="0"/>
          </a:p>
          <a:p>
            <a:pPr marL="165100" indent="-1651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계급별로 층을 나누어 임의 배정(Stratified random assignment) 실시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9618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단계에서 “무엇을, 누구에게, 몇 번, 어떻게 비교할 것인가”를 확정해야 분석 단계에서 헤매지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자료수집 · 분석 · 해석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Collection &amp; Analysis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401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얻은 데이터를 어떻게 요리할 것인가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2583180" cy="1234440"/>
          </a:xfrm>
          <a:prstGeom prst="roundRect">
            <a:avLst>
              <a:gd name="adj" fmla="val 592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455371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53312" y="4498848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자료수집·연구윤리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97580" y="4343400"/>
            <a:ext cx="2583180" cy="1234440"/>
          </a:xfrm>
          <a:prstGeom prst="roundRect">
            <a:avLst>
              <a:gd name="adj" fmla="val 592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6180" y="455371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61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10812" y="4498848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기술통계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4343400"/>
            <a:ext cx="2583180" cy="1234440"/>
          </a:xfrm>
          <a:prstGeom prst="roundRect">
            <a:avLst>
              <a:gd name="adj" fmla="val 592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455371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68312" y="4498848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추론통계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12580" y="4343400"/>
            <a:ext cx="2583180" cy="1234440"/>
          </a:xfrm>
          <a:prstGeom prst="roundRect">
            <a:avLst>
              <a:gd name="adj" fmla="val 5926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41180" y="455371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11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25812" y="4498848"/>
            <a:ext cx="16687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해석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3-1  FIELDWORK &amp; RESEARCH ETHICS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자료수집 실무 및 연구윤리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· 오프라인 설문 배포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7320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설문 — 접근성이 좋고 데이터 입력이 자동화됨 (인트라넷 체계 활용)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오프라인(지면) 설문 — 교육 직후 현장에서 즉시 실시하면 회수율이 매우 높음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0780" y="1554480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5100" y="1737360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응답률 제고 전략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15100" y="2103120"/>
            <a:ext cx="47320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 결과가 부대 발전에 어떻게 기여하는지 명확히 설명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지나치게 긴 설문지 지양 — 작성 소요 시간 10~15분 내외 권장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881360" cy="205740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88620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연구윤리와 IRB (기관생명윤리위원회)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60120" y="4315968"/>
            <a:ext cx="3230880" cy="1207008"/>
          </a:xfrm>
          <a:prstGeom prst="roundRect">
            <a:avLst>
              <a:gd name="adj" fmla="val 6061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443984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4754880"/>
            <a:ext cx="286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대상자의 사전 동의(Informed Consent)를 반드시 획득합니다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65320" y="4315968"/>
            <a:ext cx="3230880" cy="1207008"/>
          </a:xfrm>
          <a:prstGeom prst="roundRect">
            <a:avLst>
              <a:gd name="adj" fmla="val 6061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8200" y="4443984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익명성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48200" y="4754880"/>
            <a:ext cx="286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익명성과 비밀보장 원칙을 준수하고 개인 식별 정보를 수집하지 않습니다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70520" y="4315968"/>
            <a:ext cx="3230880" cy="1207008"/>
          </a:xfrm>
          <a:prstGeom prst="roundRect">
            <a:avLst>
              <a:gd name="adj" fmla="val 6061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3400" y="4443984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자발성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53400" y="4754880"/>
            <a:ext cx="286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군은 상명하복 조직이므로, 응답에 따른 불이익이 전혀 없음을 명확히 안내합니다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3-2  DESCRIPTIVE STATISTICS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기술통계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수집된 데이터의 전반적인 특징을 요약하고 설명하는 통계 방법입니다.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44240" cy="2286000"/>
          </a:xfrm>
          <a:prstGeom prst="roundRect">
            <a:avLst>
              <a:gd name="adj" fmla="val 3200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8483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70048"/>
            <a:ext cx="289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빈도분석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289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Frequency 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328416"/>
            <a:ext cx="289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성별·계급 등 범주형 변수의 응답자 수와 비율을 파악합니다.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8640" y="1828800"/>
            <a:ext cx="34442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2960" y="2084832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296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32960" y="2670048"/>
            <a:ext cx="289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교차분석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32960" y="3017520"/>
            <a:ext cx="289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Cross Tabulation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32960" y="3328416"/>
            <a:ext cx="289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범주형 변수 간의 관계를 봅니다. 예: 계급별 교육 만족도 교차표.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77200" y="1828800"/>
            <a:ext cx="3444240" cy="2286000"/>
          </a:xfrm>
          <a:prstGeom prst="roundRect">
            <a:avLst>
              <a:gd name="adj" fmla="val 3200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51520" y="208483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152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51520" y="2670048"/>
            <a:ext cx="289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평균 · 표준편차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51520" y="3017520"/>
            <a:ext cx="289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Mean &amp; SD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51520" y="3328416"/>
            <a:ext cx="289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연속형 변수(예: 만족도 5점 만점)의 중심 경향과 퍼짐 정도를 요약합니다.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370832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517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분석의 첫걸음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32688" y="4828032"/>
            <a:ext cx="10296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본격적인 가설 검증에 들어가기 전에, 기술통계로 결측치·입력 오류·이상치(Outlier)가 없는지 반드시 확인하십시오. 이 단계를 건너뛰면 뒤의 모든 분석 결과를 신뢰할 수 없습니다.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3-3  INFERENTIAL STATISTICS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추론통계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표본의 데이터를 바탕으로 모집단의 특성을 추론하거나 가설을 검증하는 방법입니다.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20624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상황 (언제 쓰는가?)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군사 분야 예시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t-검정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(t-test)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집단 간의 평균 차이를 비교할 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전 vs 교육 후 만족도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ANOVA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(분산분석)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 집단 이상의 평균 차이를 비교할 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육·해·공군 장병 간 사기 점수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상관분석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(Correlation)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연속형 변수 간의 선형 관계를 볼 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신병 교육 성취도와 부대 적응 점수의 관계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회귀분석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(Regression)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독립변수가 종속변수에 미치는 영향을 예측할 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몰입도·만족도·교육 환경이 최종 성취도에 미치는 영향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3892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528523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07008" y="5193792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기법을 쓸지는 ‘데이터의 종류’와 ‘연구문제의 형태’가 결정합니다. 다음 슬라이드의 의사결정 가이드를 참고하십시오.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GUIDE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기법 선택 의사결정 가이드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 연구에는 어떤 통계를 써야 할까?”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3794760"/>
          </a:xfrm>
          <a:prstGeom prst="roundRect">
            <a:avLst>
              <a:gd name="adj" fmla="val 1928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집단 간 차이를 비교하고 싶다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비교하는 집단 수는?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724912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7249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 집단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0" y="272491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t-검정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14400" y="3511296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5112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이상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26080" y="351129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ANOVA (분산분석)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437083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사전–사후 비교 → 대응표본 t-검정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집단 간 비교 → 독립표본 t-검정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783080"/>
            <a:ext cx="5257800" cy="3794760"/>
          </a:xfrm>
          <a:prstGeom prst="roundRect">
            <a:avLst>
              <a:gd name="adj" fmla="val 1928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변수 간 관계·영향을 보고 싶다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23591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투입하는 변수 수는?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2724912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27249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 변수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49640" y="272491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상관분석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537960" y="3511296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2552" y="35112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다수 변수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49640" y="351129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다중회귀분석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37960" y="437083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관계의 방향·강도만 → 상관분석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영향력과 설명력까지 → 회귀분석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7790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팁 — 논문에는 분석 기법의 선택 근거를 반드시 기술합니다. 예: “두 집단(민간위탁·군 자체) 간 평균 차이를 검증하기 위해 독립표본 t-검정을 실시하였다.”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통계 결과 해석의 핵심: p-value와 유의수준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p-value(유의확률) — 귀무가설이 참일 때, 현재 관측된 결과(또는 더 극단적인 결과)가 나올 확률</a:t>
            </a:r>
            <a:endParaRPr lang="en-US" sz="14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87168"/>
          <a:ext cx="5257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p-value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 &lt; .001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매우 유의미 (***)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귀무가설 기각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 &lt; .01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유의미 (**)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귀무가설 기각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 &lt; .05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유의미 (*)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귀무가설 기각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 ≥ .05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유의미하지 않음 (n.s.)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귀무가설 채택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2487168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960" y="26700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2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— 통계적 유의성 ≠ 실질적 유의성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37960" y="3054096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표본이 충분히 크면 사소한 차이도 통계적으로 유의해집니다</a:t>
            </a:r>
            <a:endParaRPr lang="en-US" sz="125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 크기(Effect Size)를 함께 보고해야 실질적 가치를 판단할 수 있습니다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37960" y="4114800"/>
            <a:ext cx="142341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4114800"/>
            <a:ext cx="1423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Cohen's d = 0.2  ·  작음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80832" y="4114800"/>
            <a:ext cx="142341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80832" y="4114800"/>
            <a:ext cx="1423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Cohen's d = 0.5  ·  중간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823704" y="4114800"/>
            <a:ext cx="1423416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23704" y="4114800"/>
            <a:ext cx="1423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Cohen's d = 0.8  ·  큼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507492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" y="5221224"/>
            <a:ext cx="274320" cy="274320"/>
          </a:xfrm>
          <a:prstGeom prst="ellipse">
            <a:avLst/>
          </a:prstGeom>
          <a:solidFill>
            <a:srgbClr val="9E2A2B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07008" y="5129784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 결심 보고서에서는 “유의하다”는 문장만으로 부족합니다. 차이가 실무적으로 얼마나 큰 차이인지 함께 제시하십시오.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3-4  RESULTS 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 예시: 실제 분석 결과 해석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신병 정신전력교육 성과 분석 데이터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기술통계 해석 — 교육 전후 수준 및 성취도 향상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28066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31136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정신전력 수준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23744"/>
            <a:ext cx="47320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3.84</a:t>
            </a:r>
            <a:pPr indent="0" marL="0">
              <a:buNone/>
            </a:pPr>
            <a:r>
              <a:rPr lang="en-US" sz="17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4.16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점 (5점 만점)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전 T1 → 교육 후 T3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0780" y="2103120"/>
            <a:ext cx="5280660" cy="1508760"/>
          </a:xfrm>
          <a:prstGeom prst="roundRect">
            <a:avLst>
              <a:gd name="adj" fmla="val 4848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5100" y="2231136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학업 성취도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15100" y="2523744"/>
            <a:ext cx="47320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64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9.26</a:t>
            </a:r>
            <a:pPr indent="0" marL="0">
              <a:buNone/>
            </a:pPr>
            <a:r>
              <a:rPr lang="en-US" sz="17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</a:t>
            </a:r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15.03</a:t>
            </a:r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점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15100" y="3200400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지식·이해도가 급격히 성장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7673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반복측정 ANOVA 결과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315968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31596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84.96</a:t>
            </a:r>
            <a:endParaRPr lang="en-US" sz="21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.001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520440" y="4315968"/>
            <a:ext cx="7726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T1(입소) → T2(체감·실감형 직후) → T3(교육 종료) → T5(신병교육 수료)로 추적한 결과, 시점별 정신전력 점수가 통계적으로 유의한 차이를 보였습니다.</a:t>
            </a:r>
            <a:endParaRPr lang="en-US" sz="1250" dirty="0"/>
          </a:p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 — 일회성 상승이 아니라, 5주차 수료 시점까지 4점 이상이 굳건히 유지됨을 과학적으로 입증하였습니다.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3-4  RESULTS 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 예시: 실제 분석 결과 해석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교육효과 지수 산출 (가중치 적용)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지표와 과정 지표를 혼합하여 종합 지수를 개발했습니다.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891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정신전력 향상도 (결과)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58768" y="2478024"/>
            <a:ext cx="1170432" cy="182880"/>
          </a:xfrm>
          <a:prstGeom prst="roundRect">
            <a:avLst>
              <a:gd name="adj" fmla="val 25000"/>
            </a:avLst>
          </a:prstGeom>
          <a:solidFill>
            <a:srgbClr val="141B44"/>
          </a:solidFill>
          <a:ln w="12700">
            <a:solidFill>
              <a:srgbClr val="141B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58768" y="2478024"/>
            <a:ext cx="1170432" cy="182880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2352" y="23774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944368"/>
            <a:ext cx="2891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교육수단 반응 (과정)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58768" y="3044952"/>
            <a:ext cx="1170432" cy="182880"/>
          </a:xfrm>
          <a:prstGeom prst="roundRect">
            <a:avLst>
              <a:gd name="adj" fmla="val 25000"/>
            </a:avLst>
          </a:prstGeom>
          <a:solidFill>
            <a:srgbClr val="141B44"/>
          </a:solidFill>
          <a:ln w="12700">
            <a:solidFill>
              <a:srgbClr val="141B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58768" y="3044952"/>
            <a:ext cx="702259" cy="182880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2352" y="29443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511296"/>
            <a:ext cx="2891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세부요소 (학습동기 등)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58768" y="3611880"/>
            <a:ext cx="1170432" cy="182880"/>
          </a:xfrm>
          <a:prstGeom prst="roundRect">
            <a:avLst>
              <a:gd name="adj" fmla="val 25000"/>
            </a:avLst>
          </a:prstGeom>
          <a:solidFill>
            <a:srgbClr val="141B44"/>
          </a:solidFill>
          <a:ln w="12700">
            <a:solidFill>
              <a:srgbClr val="141B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58768" y="3611880"/>
            <a:ext cx="468173" cy="182880"/>
          </a:xfrm>
          <a:prstGeom prst="roundRect">
            <a:avLst>
              <a:gd name="adj" fmla="val 25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35112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160520"/>
            <a:ext cx="4709160" cy="1325880"/>
          </a:xfrm>
          <a:prstGeom prst="roundRect">
            <a:avLst>
              <a:gd name="adj" fmla="val 5517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2976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신병 교육효과 지수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535424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82.9점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14400" y="515721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측정의 표준화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1481328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4F7FC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66420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잠재집단분석(LPA)을 통한 맞춤형 전략 도출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197510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훈련병의 정신전력 수준에 따라 4개 집단으로 분류하였습니다.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37960" y="2377440"/>
            <a:ext cx="4709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9E2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248716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15.8%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저수준 집단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720840" y="2999232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‘필승의 신념’, ‘사기·단결’ 등 핵심 요소가 매우 취약한 것으로 나타남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37960" y="3703320"/>
            <a:ext cx="470916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8587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정책적 제언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4169664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저수준 집단을 끌어올리려면 일방적 강의보다, 정서적 공감 중심의 관리와 작은 성취 미션 경험이 필수적임을 도출하였습니다. 분석이 곧 지휘 결심의 근거가 된 사례입니다.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737360"/>
            <a:ext cx="4754880" cy="4754880"/>
          </a:xfrm>
          <a:prstGeom prst="ellipse">
            <a:avLst/>
          </a:prstGeom>
          <a:solidFill>
            <a:srgbClr val="2B3A7A"/>
          </a:solidFill>
          <a:ln w="12700">
            <a:solidFill>
              <a:srgbClr val="2B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3-5  WRAP-UP &amp; Q&amp;A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및 Q&amp;A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28316" cy="1691640"/>
          </a:xfrm>
          <a:prstGeom prst="roundRect">
            <a:avLst>
              <a:gd name="adj" fmla="val 4324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975104"/>
            <a:ext cx="402336" cy="40233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2468880"/>
            <a:ext cx="2089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2761488"/>
            <a:ext cx="2089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연구는 감(Feeling)이 아닌 데이터(Data)에 기반해야 합니다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4428" y="1783080"/>
            <a:ext cx="2528316" cy="1691640"/>
          </a:xfrm>
          <a:prstGeom prst="roundRect">
            <a:avLst>
              <a:gd name="adj" fmla="val 4324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3884" y="1975104"/>
            <a:ext cx="402336" cy="40233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3884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43884" y="2468880"/>
            <a:ext cx="2089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43884" y="2761488"/>
            <a:ext cx="2089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명확한 문제와 가설 설정이 전체 조사의 질을 결정합니다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08776" y="1783080"/>
            <a:ext cx="2528316" cy="1691640"/>
          </a:xfrm>
          <a:prstGeom prst="roundRect">
            <a:avLst>
              <a:gd name="adj" fmla="val 4324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8232" y="1975104"/>
            <a:ext cx="402336" cy="40233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8232" y="2468880"/>
            <a:ext cx="2089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28232" y="2761488"/>
            <a:ext cx="2089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타당하고 신뢰할 수 있는 설문지를 개발하십시오 (파일럿 테스트 필수)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93124" y="1783080"/>
            <a:ext cx="2528316" cy="1691640"/>
          </a:xfrm>
          <a:prstGeom prst="roundRect">
            <a:avLst>
              <a:gd name="adj" fmla="val 4324"/>
            </a:avLst>
          </a:prstGeom>
          <a:solidFill>
            <a:srgbClr val="141B44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12580" y="1975104"/>
            <a:ext cx="402336" cy="40233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2580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12580" y="2468880"/>
            <a:ext cx="2089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12580" y="2761488"/>
            <a:ext cx="20894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적절한 통계 분석으로 지휘 결심에 도움이 되는 인과관계와 시사점을 도출하십시오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3794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“훌륭한 지휘관은 상황을 정확히 진단하고 올바른 결정을 내립니다.</a:t>
            </a:r>
            <a:endParaRPr lang="en-US" sz="17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체계적인 조사연구방법론은 여러분이 내릴 결심의 가장 든든한 무기가 될 것입니다.”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069080" y="4937760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49377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  질의응답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" y="57607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경청해 주셔서 감사합니다. 질문 있으신 분은 자유롭게 말씀해 주십시오.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연구조사방법론 특강 (Survey Research)</dc:title>
  <dc:subject>PptxGenJS Presentation</dc:subject>
  <dc:creator>연구조사방법론 특강</dc:creator>
  <cp:lastModifiedBy>연구조사방법론 특강</cp:lastModifiedBy>
  <cp:revision>1</cp:revision>
  <dcterms:created xsi:type="dcterms:W3CDTF">2026-08-24T02:30:20Z</dcterms:created>
  <dcterms:modified xsi:type="dcterms:W3CDTF">2026-08-24T02:30:20Z</dcterms:modified>
</cp:coreProperties>
</file>